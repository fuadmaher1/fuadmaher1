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Clarendon Narrow" panose="020B0604020202020204" charset="0"/>
      <p:regular r:id="rId19"/>
    </p:embeddedFont>
    <p:embeddedFont>
      <p:font typeface="Clarendon Narrow Bold" panose="020B0604020202020204" charset="0"/>
      <p:regular r:id="rId20"/>
    </p:embeddedFont>
    <p:embeddedFont>
      <p:font typeface="Cloud" panose="020B0604020202020204" charset="0"/>
      <p:regular r:id="rId21"/>
    </p:embeddedFont>
    <p:embeddedFont>
      <p:font typeface="Clou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2.2/tdpsg/enforcing-row-level-security-with-oracle-label-security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9198" y="665151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93484" y="-383408"/>
            <a:ext cx="11067650" cy="11053816"/>
          </a:xfrm>
          <a:custGeom>
            <a:avLst/>
            <a:gdLst/>
            <a:ahLst/>
            <a:cxnLst/>
            <a:rect l="l" t="t" r="r" b="b"/>
            <a:pathLst>
              <a:path w="11067650" h="11053816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7097752" y="-1981706"/>
            <a:ext cx="11343275" cy="13960954"/>
            <a:chOff x="0" y="0"/>
            <a:chExt cx="6604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33092" y="-383408"/>
            <a:ext cx="5426576" cy="4676722"/>
          </a:xfrm>
          <a:custGeom>
            <a:avLst/>
            <a:gdLst/>
            <a:ahLst/>
            <a:cxnLst/>
            <a:rect l="l" t="t" r="r" b="b"/>
            <a:pathLst>
              <a:path w="5426576" h="4676722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204154" y="7647498"/>
            <a:ext cx="2176042" cy="2427633"/>
          </a:xfrm>
          <a:custGeom>
            <a:avLst/>
            <a:gdLst/>
            <a:ahLst/>
            <a:cxnLst/>
            <a:rect l="l" t="t" r="r" b="b"/>
            <a:pathLst>
              <a:path w="2176042" h="2427633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920491" y="525201"/>
            <a:ext cx="10085468" cy="833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7"/>
              </a:lnSpc>
            </a:pPr>
            <a:r>
              <a:rPr lang="en-US" sz="12302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PL/SQL PROJECT REPORT: ROW-LEVEL SECURITY (RLS)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893" y="8632715"/>
            <a:ext cx="952406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Presented by Eng.Fuad Maher &amp; Eng.Momen Mohanna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under supervision of Eng. Sameh Salem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04025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889928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2283880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29317" y="1847436"/>
            <a:ext cx="12703611" cy="12691989"/>
          </a:xfrm>
          <a:custGeom>
            <a:avLst/>
            <a:gdLst/>
            <a:ahLst/>
            <a:cxnLst/>
            <a:rect l="l" t="t" r="r" b="b"/>
            <a:pathLst>
              <a:path w="12703611" h="12691989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321706" y="2935499"/>
            <a:ext cx="18931411" cy="9101640"/>
            <a:chOff x="0" y="0"/>
            <a:chExt cx="660400" cy="31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1750"/>
              <a:ext cx="660400" cy="285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795531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23855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568366" y="1627460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601632" y="2401327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221729" y="5487456"/>
            <a:ext cx="5844543" cy="60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892"/>
              </a:lnSpc>
              <a:spcBef>
                <a:spcPct val="0"/>
              </a:spcBef>
            </a:pPr>
            <a:r>
              <a:rPr lang="ar-EG" sz="3494" b="1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  <a:rtl/>
              </a:rPr>
              <a:t>م.مؤمن مهنا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3123" y="4957088"/>
            <a:ext cx="5841753" cy="60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892"/>
              </a:lnSpc>
              <a:spcBef>
                <a:spcPct val="0"/>
              </a:spcBef>
            </a:pPr>
            <a:r>
              <a:rPr lang="ar-EG" sz="3494" b="1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  <a:rtl/>
              </a:rPr>
              <a:t>م.فؤاد السرساوي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54587" y="892417"/>
            <a:ext cx="597882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Our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04025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889928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2283880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29317" y="1847436"/>
            <a:ext cx="12703611" cy="12691989"/>
          </a:xfrm>
          <a:custGeom>
            <a:avLst/>
            <a:gdLst/>
            <a:ahLst/>
            <a:cxnLst/>
            <a:rect l="l" t="t" r="r" b="b"/>
            <a:pathLst>
              <a:path w="12703611" h="12691989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321706" y="2935499"/>
            <a:ext cx="18931411" cy="9101640"/>
            <a:chOff x="0" y="0"/>
            <a:chExt cx="660400" cy="31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1750"/>
              <a:ext cx="660400" cy="285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795531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23855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568366" y="1627460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601632" y="2401327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76139" y="5899137"/>
            <a:ext cx="15509211" cy="310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3131"/>
                </a:solidFill>
                <a:latin typeface="Cloud Bold"/>
                <a:ea typeface="Cloud Bold"/>
                <a:cs typeface="Cloud Bold"/>
                <a:sym typeface="Cloud Bold"/>
              </a:rPr>
              <a:t>Project Title:</a:t>
            </a:r>
            <a:r>
              <a:rPr lang="en-US" sz="2999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 Protecting Sensitive Data using Row-Level Security in an</a:t>
            </a:r>
          </a:p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     Oracle Environment.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Student Name: Fuad Maher &amp; Momen Mohanna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Programming Language : PL/SQL Programming.</a:t>
            </a: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Supervised by: Eng. Sameh Samlem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999" b="1">
              <a:solidFill>
                <a:srgbClr val="F5EFEB"/>
              </a:solidFill>
              <a:latin typeface="Cloud Bold"/>
              <a:ea typeface="Cloud Bold"/>
              <a:cs typeface="Cloud Bold"/>
              <a:sym typeface="Clou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984174" y="873367"/>
            <a:ext cx="6319652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Cover Page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9808" y="-422828"/>
            <a:ext cx="6902127" cy="4998345"/>
          </a:xfrm>
          <a:custGeom>
            <a:avLst/>
            <a:gdLst/>
            <a:ahLst/>
            <a:cxnLst/>
            <a:rect l="l" t="t" r="r" b="b"/>
            <a:pathLst>
              <a:path w="6902127" h="4998345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91268">
            <a:off x="1028102" y="3836999"/>
            <a:ext cx="2777650" cy="482617"/>
          </a:xfrm>
          <a:custGeom>
            <a:avLst/>
            <a:gdLst/>
            <a:ahLst/>
            <a:cxnLst/>
            <a:rect l="l" t="t" r="r" b="b"/>
            <a:pathLst>
              <a:path w="2777650" h="482617">
                <a:moveTo>
                  <a:pt x="0" y="0"/>
                </a:moveTo>
                <a:lnTo>
                  <a:pt x="2777650" y="0"/>
                </a:lnTo>
                <a:lnTo>
                  <a:pt x="2777650" y="482616"/>
                </a:lnTo>
                <a:lnTo>
                  <a:pt x="0" y="482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194000">
            <a:off x="3309337" y="3837971"/>
            <a:ext cx="2777650" cy="482617"/>
          </a:xfrm>
          <a:custGeom>
            <a:avLst/>
            <a:gdLst/>
            <a:ahLst/>
            <a:cxnLst/>
            <a:rect l="l" t="t" r="r" b="b"/>
            <a:pathLst>
              <a:path w="2777650" h="482617">
                <a:moveTo>
                  <a:pt x="0" y="0"/>
                </a:moveTo>
                <a:lnTo>
                  <a:pt x="2777650" y="0"/>
                </a:lnTo>
                <a:lnTo>
                  <a:pt x="2777650" y="482617"/>
                </a:lnTo>
                <a:lnTo>
                  <a:pt x="0" y="482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0800000">
            <a:off x="963245" y="2884603"/>
            <a:ext cx="16296055" cy="8198014"/>
            <a:chOff x="0" y="0"/>
            <a:chExt cx="1980907" cy="996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0907" cy="996530"/>
            </a:xfrm>
            <a:custGeom>
              <a:avLst/>
              <a:gdLst/>
              <a:ahLst/>
              <a:cxnLst/>
              <a:rect l="l" t="t" r="r" b="b"/>
              <a:pathLst>
                <a:path w="1980907" h="996530">
                  <a:moveTo>
                    <a:pt x="1980907" y="0"/>
                  </a:moveTo>
                  <a:lnTo>
                    <a:pt x="1980907" y="882230"/>
                  </a:lnTo>
                  <a:lnTo>
                    <a:pt x="990453" y="996530"/>
                  </a:lnTo>
                  <a:lnTo>
                    <a:pt x="0" y="882230"/>
                  </a:lnTo>
                  <a:lnTo>
                    <a:pt x="0" y="0"/>
                  </a:lnTo>
                  <a:lnTo>
                    <a:pt x="1980907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80907" cy="929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14230472" y="6529567"/>
            <a:ext cx="4402996" cy="4114800"/>
          </a:xfrm>
          <a:custGeom>
            <a:avLst/>
            <a:gdLst/>
            <a:ahLst/>
            <a:cxnLst/>
            <a:rect l="l" t="t" r="r" b="b"/>
            <a:pathLst>
              <a:path w="4402996" h="4114800">
                <a:moveTo>
                  <a:pt x="0" y="4114800"/>
                </a:moveTo>
                <a:lnTo>
                  <a:pt x="4402996" y="4114800"/>
                </a:lnTo>
                <a:lnTo>
                  <a:pt x="440299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3945" y="4012605"/>
            <a:ext cx="12916527" cy="421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8"/>
              </a:lnSpc>
              <a:spcBef>
                <a:spcPct val="0"/>
              </a:spcBef>
            </a:pPr>
            <a:r>
              <a:rPr lang="en-US" sz="2984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Databases are the backbone of any information system. Protection is not limited to preventing unauthorized access but extends to controlling what each user can see within the tables. Row-Level Security (RLS), also known as Virtual Private Database (VPD), is a powerful Oracle feature that ensures users view only authorized data by transparently appending a "hidden condition" to every SQL query.</a:t>
            </a:r>
          </a:p>
          <a:p>
            <a:pPr algn="just">
              <a:lnSpc>
                <a:spcPts val="4178"/>
              </a:lnSpc>
              <a:spcBef>
                <a:spcPct val="0"/>
              </a:spcBef>
            </a:pPr>
            <a:endParaRPr lang="en-US" sz="2984">
              <a:solidFill>
                <a:srgbClr val="FFFFFF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4178"/>
              </a:lnSpc>
              <a:spcBef>
                <a:spcPct val="0"/>
              </a:spcBef>
            </a:pPr>
            <a:endParaRPr lang="en-US" sz="2984">
              <a:solidFill>
                <a:srgbClr val="FFFFFF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697568" y="1073067"/>
            <a:ext cx="6932640" cy="131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6858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Introduction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39" y="454854"/>
            <a:ext cx="20460602" cy="10237416"/>
            <a:chOff x="0" y="0"/>
            <a:chExt cx="5388801" cy="26962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8801" cy="2696274"/>
            </a:xfrm>
            <a:custGeom>
              <a:avLst/>
              <a:gdLst/>
              <a:ahLst/>
              <a:cxnLst/>
              <a:rect l="l" t="t" r="r" b="b"/>
              <a:pathLst>
                <a:path w="5388801" h="2696274">
                  <a:moveTo>
                    <a:pt x="0" y="0"/>
                  </a:moveTo>
                  <a:lnTo>
                    <a:pt x="5388801" y="0"/>
                  </a:lnTo>
                  <a:lnTo>
                    <a:pt x="5388801" y="2696274"/>
                  </a:lnTo>
                  <a:lnTo>
                    <a:pt x="0" y="2696274"/>
                  </a:lnTo>
                  <a:close/>
                </a:path>
              </a:pathLst>
            </a:custGeom>
            <a:solidFill>
              <a:srgbClr val="4B678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88801" cy="2743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50791" y="1273661"/>
            <a:ext cx="14986418" cy="8599801"/>
          </a:xfrm>
          <a:custGeom>
            <a:avLst/>
            <a:gdLst/>
            <a:ahLst/>
            <a:cxnLst/>
            <a:rect l="l" t="t" r="r" b="b"/>
            <a:pathLst>
              <a:path w="14986418" h="8599801">
                <a:moveTo>
                  <a:pt x="0" y="0"/>
                </a:moveTo>
                <a:lnTo>
                  <a:pt x="14986418" y="0"/>
                </a:lnTo>
                <a:lnTo>
                  <a:pt x="14986418" y="8599802"/>
                </a:lnTo>
                <a:lnTo>
                  <a:pt x="0" y="859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9808" y="-422828"/>
            <a:ext cx="6902127" cy="4998345"/>
          </a:xfrm>
          <a:custGeom>
            <a:avLst/>
            <a:gdLst/>
            <a:ahLst/>
            <a:cxnLst/>
            <a:rect l="l" t="t" r="r" b="b"/>
            <a:pathLst>
              <a:path w="6902127" h="4998345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716316" y="6983610"/>
            <a:ext cx="3917152" cy="3660757"/>
          </a:xfrm>
          <a:custGeom>
            <a:avLst/>
            <a:gdLst/>
            <a:ahLst/>
            <a:cxnLst/>
            <a:rect l="l" t="t" r="r" b="b"/>
            <a:pathLst>
              <a:path w="3917152" h="3660757">
                <a:moveTo>
                  <a:pt x="0" y="3660757"/>
                </a:moveTo>
                <a:lnTo>
                  <a:pt x="3917152" y="3660757"/>
                </a:lnTo>
                <a:lnTo>
                  <a:pt x="3917152" y="0"/>
                </a:lnTo>
                <a:lnTo>
                  <a:pt x="0" y="0"/>
                </a:lnTo>
                <a:lnTo>
                  <a:pt x="0" y="366075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191268">
            <a:off x="3802568" y="3836999"/>
            <a:ext cx="2777650" cy="482617"/>
          </a:xfrm>
          <a:custGeom>
            <a:avLst/>
            <a:gdLst/>
            <a:ahLst/>
            <a:cxnLst/>
            <a:rect l="l" t="t" r="r" b="b"/>
            <a:pathLst>
              <a:path w="2777650" h="482617">
                <a:moveTo>
                  <a:pt x="0" y="0"/>
                </a:moveTo>
                <a:lnTo>
                  <a:pt x="2777650" y="0"/>
                </a:lnTo>
                <a:lnTo>
                  <a:pt x="2777650" y="482616"/>
                </a:lnTo>
                <a:lnTo>
                  <a:pt x="0" y="482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194000">
            <a:off x="6083803" y="3837971"/>
            <a:ext cx="2777650" cy="482617"/>
          </a:xfrm>
          <a:custGeom>
            <a:avLst/>
            <a:gdLst/>
            <a:ahLst/>
            <a:cxnLst/>
            <a:rect l="l" t="t" r="r" b="b"/>
            <a:pathLst>
              <a:path w="2777650" h="482617">
                <a:moveTo>
                  <a:pt x="0" y="0"/>
                </a:moveTo>
                <a:lnTo>
                  <a:pt x="2777650" y="0"/>
                </a:lnTo>
                <a:lnTo>
                  <a:pt x="2777650" y="482617"/>
                </a:lnTo>
                <a:lnTo>
                  <a:pt x="0" y="482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0" y="2694475"/>
            <a:ext cx="17699854" cy="8388142"/>
            <a:chOff x="0" y="0"/>
            <a:chExt cx="2151549" cy="10196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1549" cy="1019641"/>
            </a:xfrm>
            <a:custGeom>
              <a:avLst/>
              <a:gdLst/>
              <a:ahLst/>
              <a:cxnLst/>
              <a:rect l="l" t="t" r="r" b="b"/>
              <a:pathLst>
                <a:path w="2151549" h="1019641">
                  <a:moveTo>
                    <a:pt x="2151549" y="0"/>
                  </a:moveTo>
                  <a:lnTo>
                    <a:pt x="2151549" y="905341"/>
                  </a:lnTo>
                  <a:lnTo>
                    <a:pt x="1075775" y="1019641"/>
                  </a:lnTo>
                  <a:lnTo>
                    <a:pt x="0" y="905341"/>
                  </a:lnTo>
                  <a:lnTo>
                    <a:pt x="0" y="0"/>
                  </a:lnTo>
                  <a:lnTo>
                    <a:pt x="2151549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51549" cy="952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3425" y="3983057"/>
            <a:ext cx="16785875" cy="370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The project implements an HR Management System containing sensitive salary data. Instead of creating separate tables for each department, we use a single global table. Based on the User Identity logged into the database, the PL/SQL engine dynamically modifies queries to display only the rows relevant to that user's department.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94198" y="918811"/>
            <a:ext cx="929960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357" y="693388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43061" y="675291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04004" y="65719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64946" y="71053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5889" y="692436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57052" y="1252186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9286" y="2255649"/>
            <a:ext cx="7307388" cy="7307388"/>
          </a:xfrm>
          <a:custGeom>
            <a:avLst/>
            <a:gdLst/>
            <a:ahLst/>
            <a:cxnLst/>
            <a:rect l="l" t="t" r="r" b="b"/>
            <a:pathLst>
              <a:path w="7307388" h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98456" y="2963851"/>
            <a:ext cx="15560844" cy="5890984"/>
            <a:chOff x="0" y="0"/>
            <a:chExt cx="1854324" cy="702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4324" cy="702005"/>
            </a:xfrm>
            <a:custGeom>
              <a:avLst/>
              <a:gdLst/>
              <a:ahLst/>
              <a:cxnLst/>
              <a:rect l="l" t="t" r="r" b="b"/>
              <a:pathLst>
                <a:path w="1854324" h="702005">
                  <a:moveTo>
                    <a:pt x="0" y="0"/>
                  </a:moveTo>
                  <a:lnTo>
                    <a:pt x="1854324" y="0"/>
                  </a:lnTo>
                  <a:lnTo>
                    <a:pt x="1854324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854324" cy="79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793802" y="-1859151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08036" y="3887503"/>
            <a:ext cx="14148324" cy="330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743" lvl="1" indent="-336872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Implement the Principle of Least Privilege.</a:t>
            </a:r>
          </a:p>
          <a:p>
            <a:pPr marL="673743" lvl="1" indent="-336872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Manage data access dynamically without changing application code.</a:t>
            </a:r>
          </a:p>
          <a:p>
            <a:pPr marL="673743" lvl="1" indent="-336872" algn="just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Utilize PL/SQL to build flexible security policies.</a:t>
            </a:r>
          </a:p>
          <a:p>
            <a:pPr marL="673743" lvl="1" indent="-336872" algn="just">
              <a:lnSpc>
                <a:spcPts val="4368"/>
              </a:lnSpc>
              <a:spcBef>
                <a:spcPct val="0"/>
              </a:spcBef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Protect sensitive information (like salaries) from internal unauthorized access.</a:t>
            </a:r>
          </a:p>
          <a:p>
            <a:pPr algn="just">
              <a:lnSpc>
                <a:spcPts val="4368"/>
              </a:lnSpc>
              <a:spcBef>
                <a:spcPct val="0"/>
              </a:spcBef>
            </a:pPr>
            <a:endParaRPr lang="en-US" sz="3120">
              <a:solidFill>
                <a:srgbClr val="FFFFFF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94198" y="880711"/>
            <a:ext cx="929960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Objectives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357" y="693388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43061" y="675291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04004" y="65719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64946" y="71053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5889" y="692436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57052" y="1252186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9286" y="2255649"/>
            <a:ext cx="7307388" cy="7307388"/>
          </a:xfrm>
          <a:custGeom>
            <a:avLst/>
            <a:gdLst/>
            <a:ahLst/>
            <a:cxnLst/>
            <a:rect l="l" t="t" r="r" b="b"/>
            <a:pathLst>
              <a:path w="7307388" h="7307388">
                <a:moveTo>
                  <a:pt x="0" y="0"/>
                </a:moveTo>
                <a:lnTo>
                  <a:pt x="7307389" y="0"/>
                </a:lnTo>
                <a:lnTo>
                  <a:pt x="7307389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98456" y="2963851"/>
            <a:ext cx="15560844" cy="5890984"/>
            <a:chOff x="0" y="0"/>
            <a:chExt cx="1854324" cy="702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4324" cy="702005"/>
            </a:xfrm>
            <a:custGeom>
              <a:avLst/>
              <a:gdLst/>
              <a:ahLst/>
              <a:cxnLst/>
              <a:rect l="l" t="t" r="r" b="b"/>
              <a:pathLst>
                <a:path w="1854324" h="702005">
                  <a:moveTo>
                    <a:pt x="0" y="0"/>
                  </a:moveTo>
                  <a:lnTo>
                    <a:pt x="1854324" y="0"/>
                  </a:lnTo>
                  <a:lnTo>
                    <a:pt x="1854324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854324" cy="79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793802" y="-1859151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02428" y="3471234"/>
            <a:ext cx="14352899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The system relies on a central table and specific user roles: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Table EMPLOYEES_DATA: Contains EMP_ID, EMP_NAME, DEPT_NAME, and SALARY.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Users for Testing:</a:t>
            </a:r>
          </a:p>
          <a:p>
            <a:pPr marL="1209039" lvl="2" indent="-403013" algn="just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HR_MANAGER: Authorized to view all records.</a:t>
            </a:r>
          </a:p>
          <a:p>
            <a:pPr marL="1209039" lvl="2" indent="-403013" algn="just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SALES_USER: Authorized to view Sales department records only.</a:t>
            </a:r>
          </a:p>
          <a:p>
            <a:pPr marL="1209039" lvl="2" indent="-403013" algn="just">
              <a:lnSpc>
                <a:spcPts val="3919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TECH_USER: Authorized to view Technology department records only.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94198" y="918974"/>
            <a:ext cx="929960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DataBase 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4590867" y="-791896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-3195003" y="4071833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908252" y="3602757"/>
            <a:ext cx="7816504" cy="781650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82512" y="-1260972"/>
            <a:ext cx="7816504" cy="78165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690799" y="6743699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244173" y="-512043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413794" y="9258300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72670" y="-852349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87483" y="870576"/>
            <a:ext cx="8747629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Proposed Solutions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70919" y="3536082"/>
            <a:ext cx="12946162" cy="494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The solution is implemented through three PL/SQL layers: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Policy Function: A function that returns a dynamic WHERE clause (predicate).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DBMS_RLS Package: A system package used to bind the function to the table.</a:t>
            </a:r>
          </a:p>
          <a:p>
            <a:pPr marL="604519" lvl="1" indent="-302260" algn="just">
              <a:lnSpc>
                <a:spcPts val="3919"/>
              </a:lnSpc>
              <a:spcBef>
                <a:spcPct val="0"/>
              </a:spcBef>
              <a:buAutoNum type="arabicPeriod"/>
            </a:pPr>
            <a:r>
              <a:rPr lang="en-US" sz="2799" b="1">
                <a:solidFill>
                  <a:srgbClr val="2F4156"/>
                </a:solidFill>
                <a:latin typeface="Cloud Bold"/>
                <a:ea typeface="Cloud Bold"/>
                <a:cs typeface="Cloud Bold"/>
                <a:sym typeface="Cloud Bold"/>
              </a:rPr>
              <a:t>Policy Enforcement: Automatically activating the filter during SELECT operations</a:t>
            </a: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4590867" y="-791896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-3195003" y="4071833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908252" y="4069681"/>
            <a:ext cx="7816504" cy="7349579"/>
            <a:chOff x="0" y="0"/>
            <a:chExt cx="812800" cy="7642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764247"/>
            </a:xfrm>
            <a:custGeom>
              <a:avLst/>
              <a:gdLst/>
              <a:ahLst/>
              <a:cxnLst/>
              <a:rect l="l" t="t" r="r" b="b"/>
              <a:pathLst>
                <a:path w="812800" h="764247">
                  <a:moveTo>
                    <a:pt x="406400" y="0"/>
                  </a:moveTo>
                  <a:lnTo>
                    <a:pt x="812800" y="382123"/>
                  </a:lnTo>
                  <a:lnTo>
                    <a:pt x="406400" y="764247"/>
                  </a:lnTo>
                  <a:lnTo>
                    <a:pt x="0" y="38212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36105"/>
              <a:ext cx="533400" cy="596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82512" y="-1260972"/>
            <a:ext cx="7816504" cy="78165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690799" y="6743699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244173" y="-512043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413794" y="9258300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72670" y="-852349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203709" y="1404081"/>
            <a:ext cx="7883347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Coding 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9408" y="3917281"/>
            <a:ext cx="11523104" cy="138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5"/>
              </a:lnSpc>
              <a:spcBef>
                <a:spcPct val="0"/>
              </a:spcBef>
            </a:pPr>
            <a:r>
              <a:rPr lang="en-US" sz="3796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We have uplopded a file on Classroom that contain coding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66687" y="1767594"/>
            <a:ext cx="6754627" cy="6751812"/>
          </a:xfrm>
          <a:custGeom>
            <a:avLst/>
            <a:gdLst/>
            <a:ahLst/>
            <a:cxnLst/>
            <a:rect l="l" t="t" r="r" b="b"/>
            <a:pathLst>
              <a:path w="6754627" h="6751812">
                <a:moveTo>
                  <a:pt x="0" y="0"/>
                </a:moveTo>
                <a:lnTo>
                  <a:pt x="6754626" y="0"/>
                </a:lnTo>
                <a:lnTo>
                  <a:pt x="6754626" y="6751812"/>
                </a:lnTo>
                <a:lnTo>
                  <a:pt x="0" y="6751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42795" y="-3887484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93530" y="1152193"/>
            <a:ext cx="9222416" cy="237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5"/>
              </a:lnSpc>
            </a:pPr>
            <a:r>
              <a:rPr lang="en-US" sz="9500" b="1">
                <a:solidFill>
                  <a:srgbClr val="FFFFFF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Testing and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1086" y="3942797"/>
            <a:ext cx="15965828" cy="457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1"/>
              </a:lnSpc>
              <a:spcBef>
                <a:spcPct val="0"/>
              </a:spcBef>
            </a:pPr>
            <a:r>
              <a:rPr lang="en-US" sz="4265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When executing SELECT * FROM employees_data;, </a:t>
            </a:r>
          </a:p>
          <a:p>
            <a:pPr algn="ctr">
              <a:lnSpc>
                <a:spcPts val="5971"/>
              </a:lnSpc>
              <a:spcBef>
                <a:spcPct val="0"/>
              </a:spcBef>
            </a:pPr>
            <a:r>
              <a:rPr lang="en-US" sz="4265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the results vary by user:</a:t>
            </a:r>
          </a:p>
          <a:p>
            <a:pPr marL="920962" lvl="1" indent="-460481" algn="l">
              <a:lnSpc>
                <a:spcPts val="5971"/>
              </a:lnSpc>
              <a:buFont typeface="Arial"/>
              <a:buChar char="•"/>
            </a:pPr>
            <a:r>
              <a:rPr lang="en-US" sz="4265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HR_MANAGER: Sees 4 rows.</a:t>
            </a:r>
          </a:p>
          <a:p>
            <a:pPr marL="920962" lvl="1" indent="-460481" algn="l">
              <a:lnSpc>
                <a:spcPts val="5971"/>
              </a:lnSpc>
              <a:buFont typeface="Arial"/>
              <a:buChar char="•"/>
            </a:pPr>
            <a:r>
              <a:rPr lang="en-US" sz="4265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 SALES_USER: Sees 2 rows (Sara, Khalid).</a:t>
            </a:r>
          </a:p>
          <a:p>
            <a:pPr marL="920962" lvl="1" indent="-460481" algn="l">
              <a:lnSpc>
                <a:spcPts val="5971"/>
              </a:lnSpc>
              <a:buFont typeface="Arial"/>
              <a:buChar char="•"/>
            </a:pPr>
            <a:r>
              <a:rPr lang="en-US" sz="4265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TECH_USER: Sees 1 row (Laila).</a:t>
            </a:r>
          </a:p>
          <a:p>
            <a:pPr algn="ctr">
              <a:lnSpc>
                <a:spcPts val="5971"/>
              </a:lnSpc>
              <a:spcBef>
                <a:spcPct val="0"/>
              </a:spcBef>
            </a:pPr>
            <a:endParaRPr lang="en-US" sz="4265">
              <a:solidFill>
                <a:srgbClr val="FFFFFF"/>
              </a:solidFill>
              <a:latin typeface="Clarendon Narrow"/>
              <a:ea typeface="Clarendon Narrow"/>
              <a:cs typeface="Clarendon Narrow"/>
              <a:sym typeface="Clarendon Narro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036" y="2383053"/>
            <a:ext cx="6503137" cy="3438534"/>
          </a:xfrm>
          <a:custGeom>
            <a:avLst/>
            <a:gdLst/>
            <a:ahLst/>
            <a:cxnLst/>
            <a:rect l="l" t="t" r="r" b="b"/>
            <a:pathLst>
              <a:path w="6503137" h="3438534">
                <a:moveTo>
                  <a:pt x="0" y="0"/>
                </a:moveTo>
                <a:lnTo>
                  <a:pt x="6503137" y="0"/>
                </a:lnTo>
                <a:lnTo>
                  <a:pt x="6503137" y="3438534"/>
                </a:lnTo>
                <a:lnTo>
                  <a:pt x="0" y="343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90739" y="2414309"/>
            <a:ext cx="6295611" cy="3376021"/>
          </a:xfrm>
          <a:custGeom>
            <a:avLst/>
            <a:gdLst/>
            <a:ahLst/>
            <a:cxnLst/>
            <a:rect l="l" t="t" r="r" b="b"/>
            <a:pathLst>
              <a:path w="6295611" h="3376021">
                <a:moveTo>
                  <a:pt x="0" y="0"/>
                </a:moveTo>
                <a:lnTo>
                  <a:pt x="6295611" y="0"/>
                </a:lnTo>
                <a:lnTo>
                  <a:pt x="6295611" y="3376022"/>
                </a:lnTo>
                <a:lnTo>
                  <a:pt x="0" y="3376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1552" y="6445404"/>
            <a:ext cx="6588621" cy="3483734"/>
          </a:xfrm>
          <a:custGeom>
            <a:avLst/>
            <a:gdLst/>
            <a:ahLst/>
            <a:cxnLst/>
            <a:rect l="l" t="t" r="r" b="b"/>
            <a:pathLst>
              <a:path w="6588621" h="3483734">
                <a:moveTo>
                  <a:pt x="0" y="0"/>
                </a:moveTo>
                <a:lnTo>
                  <a:pt x="6588621" y="0"/>
                </a:lnTo>
                <a:lnTo>
                  <a:pt x="6588621" y="3483733"/>
                </a:lnTo>
                <a:lnTo>
                  <a:pt x="0" y="3483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9604"/>
            <a:ext cx="1303854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And Results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33703"/>
            <a:ext cx="18140432" cy="983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:</a:t>
            </a:r>
          </a:p>
          <a:p>
            <a:pPr algn="ctr">
              <a:lnSpc>
                <a:spcPts val="13439"/>
              </a:lnSpc>
            </a:pPr>
            <a:endParaRPr lang="en-US" sz="92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  the "Hidden" Logic: Grasping how Oracle dynamically applies policies in the background.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Managing User Roles: Ensuring the PL/SQL function correctly identifies different users (like HR_MANAGER vs. TECH_USER)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System Packages: Learning the exact syntax needed to link our function to the table using the DBMS_RLS package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9198" y="665151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93484" y="-383408"/>
            <a:ext cx="11067650" cy="11053816"/>
          </a:xfrm>
          <a:custGeom>
            <a:avLst/>
            <a:gdLst/>
            <a:ahLst/>
            <a:cxnLst/>
            <a:rect l="l" t="t" r="r" b="b"/>
            <a:pathLst>
              <a:path w="11067650" h="11053816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4934480" y="-4007539"/>
            <a:ext cx="11343275" cy="18012620"/>
            <a:chOff x="0" y="0"/>
            <a:chExt cx="660400" cy="10486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1048686"/>
            </a:xfrm>
            <a:custGeom>
              <a:avLst/>
              <a:gdLst/>
              <a:ahLst/>
              <a:cxnLst/>
              <a:rect l="l" t="t" r="r" b="b"/>
              <a:pathLst>
                <a:path w="660400" h="1048686">
                  <a:moveTo>
                    <a:pt x="220252" y="1029617"/>
                  </a:moveTo>
                  <a:cubicBezTo>
                    <a:pt x="254109" y="1041131"/>
                    <a:pt x="292600" y="1048686"/>
                    <a:pt x="330378" y="1048686"/>
                  </a:cubicBezTo>
                  <a:cubicBezTo>
                    <a:pt x="368157" y="1048686"/>
                    <a:pt x="404509" y="1042209"/>
                    <a:pt x="438009" y="1030695"/>
                  </a:cubicBezTo>
                  <a:cubicBezTo>
                    <a:pt x="438723" y="1030336"/>
                    <a:pt x="439435" y="1030336"/>
                    <a:pt x="440148" y="1029976"/>
                  </a:cubicBezTo>
                  <a:cubicBezTo>
                    <a:pt x="565955" y="983921"/>
                    <a:pt x="658618" y="862307"/>
                    <a:pt x="660400" y="71494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14414"/>
                  </a:lnTo>
                  <a:cubicBezTo>
                    <a:pt x="1782" y="863026"/>
                    <a:pt x="93019" y="984641"/>
                    <a:pt x="220252" y="1029617"/>
                  </a:cubicBezTo>
                  <a:close/>
                </a:path>
              </a:pathLst>
            </a:custGeom>
            <a:solidFill>
              <a:srgbClr val="2F415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660400" cy="1016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33092" y="-383408"/>
            <a:ext cx="5426576" cy="4676722"/>
          </a:xfrm>
          <a:custGeom>
            <a:avLst/>
            <a:gdLst/>
            <a:ahLst/>
            <a:cxnLst/>
            <a:rect l="l" t="t" r="r" b="b"/>
            <a:pathLst>
              <a:path w="5426576" h="4676722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204154" y="7647498"/>
            <a:ext cx="2176042" cy="2427633"/>
          </a:xfrm>
          <a:custGeom>
            <a:avLst/>
            <a:gdLst/>
            <a:ahLst/>
            <a:cxnLst/>
            <a:rect l="l" t="t" r="r" b="b"/>
            <a:pathLst>
              <a:path w="2176042" h="2427633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208800" y="1143000"/>
            <a:ext cx="9050500" cy="111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sz="8100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CONCLUSION: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8748" y="3690208"/>
            <a:ext cx="13600552" cy="258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8"/>
              </a:lnSpc>
              <a:spcBef>
                <a:spcPct val="0"/>
              </a:spcBef>
            </a:pPr>
            <a:r>
              <a:rPr lang="en-US" sz="3562">
                <a:solidFill>
                  <a:srgbClr val="FFFFFF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The RLS project demonstrates that true data security starts within the database layer. By using PL/SQL and VPD, we built a "transparent" security layer that ensures privacy without requiring any changes to the application's front-end code.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84686" y="0"/>
            <a:ext cx="19805250" cy="10515025"/>
            <a:chOff x="0" y="0"/>
            <a:chExt cx="5216197" cy="2769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6198" cy="2769389"/>
            </a:xfrm>
            <a:custGeom>
              <a:avLst/>
              <a:gdLst/>
              <a:ahLst/>
              <a:cxnLst/>
              <a:rect l="l" t="t" r="r" b="b"/>
              <a:pathLst>
                <a:path w="5216198" h="2769389">
                  <a:moveTo>
                    <a:pt x="0" y="0"/>
                  </a:moveTo>
                  <a:lnTo>
                    <a:pt x="5216198" y="0"/>
                  </a:lnTo>
                  <a:lnTo>
                    <a:pt x="5216198" y="2769389"/>
                  </a:lnTo>
                  <a:lnTo>
                    <a:pt x="0" y="2769389"/>
                  </a:lnTo>
                  <a:close/>
                </a:path>
              </a:pathLst>
            </a:custGeom>
            <a:solidFill>
              <a:srgbClr val="4B678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5216197" cy="286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17279" y="446028"/>
            <a:ext cx="797005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Resources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4645" y="2807110"/>
            <a:ext cx="11767111" cy="111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1624" lvl="1" indent="-710812" algn="l">
              <a:lnSpc>
                <a:spcPts val="9218"/>
              </a:lnSpc>
              <a:buFont typeface="Arial"/>
              <a:buChar char="•"/>
            </a:pPr>
            <a:r>
              <a:rPr lang="en-US" sz="6584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docs.oracle.com/en/database/oracle/oracle-database/12.2/tdpsg/enforcing-row-level-security-with-oracle-label-security.html"/>
              </a:rPr>
              <a:t>Oracle Documentation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556</Words>
  <Application>Microsoft Office PowerPoint</Application>
  <PresentationFormat>Custom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Clarendon Narrow Bold</vt:lpstr>
      <vt:lpstr>Calibri</vt:lpstr>
      <vt:lpstr>Arial</vt:lpstr>
      <vt:lpstr>Cloud</vt:lpstr>
      <vt:lpstr>Clarendon Narrow</vt:lpstr>
      <vt:lpstr>Canva Sans</vt:lpstr>
      <vt:lpstr>Canva Sans Bold</vt:lpstr>
      <vt:lpstr>Cloud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ADB Lab Project</dc:title>
  <cp:lastModifiedBy>فؤاد ماهر</cp:lastModifiedBy>
  <cp:revision>2</cp:revision>
  <dcterms:created xsi:type="dcterms:W3CDTF">2006-08-16T00:00:00Z</dcterms:created>
  <dcterms:modified xsi:type="dcterms:W3CDTF">2026-03-19T14:28:25Z</dcterms:modified>
  <dc:identifier>DAHDP8XxWjY</dc:identifier>
</cp:coreProperties>
</file>